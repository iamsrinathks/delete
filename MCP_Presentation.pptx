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sldIdLst>
    <p:sldId id="256" r:id="rId2"/>
    <p:sldId id="257" r:id="rId3"/>
    <p:sldId id="259" r:id="rId4"/>
    <p:sldId id="258"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p:scale>
          <a:sx n="192" d="100"/>
          <a:sy n="192" d="100"/>
        </p:scale>
        <p:origin x="144" y="-11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11/27/25</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877539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11/27/25</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427313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11/27/25</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79694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11/27/25</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439976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11/27/25</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641093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11/27/25</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393773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11/27/25</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319312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11/27/25</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630539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11/27/25</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98049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11/27/25</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113534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11/27/25</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997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11/27/25</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138867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11" r:id="rId6"/>
    <p:sldLayoutId id="2147483706" r:id="rId7"/>
    <p:sldLayoutId id="2147483707" r:id="rId8"/>
    <p:sldLayoutId id="2147483708" r:id="rId9"/>
    <p:sldLayoutId id="2147483710" r:id="rId10"/>
    <p:sldLayoutId id="2147483709"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FB59A6B-A73A-4B84-96FA-15B2C57AC0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lourful light bulb with business icons">
            <a:extLst>
              <a:ext uri="{FF2B5EF4-FFF2-40B4-BE49-F238E27FC236}">
                <a16:creationId xmlns:a16="http://schemas.microsoft.com/office/drawing/2014/main" id="{259268E5-E32C-B342-EE8C-6DCC187C7DC4}"/>
              </a:ext>
            </a:extLst>
          </p:cNvPr>
          <p:cNvPicPr>
            <a:picLocks noChangeAspect="1"/>
          </p:cNvPicPr>
          <p:nvPr/>
        </p:nvPicPr>
        <p:blipFill>
          <a:blip r:embed="rId2">
            <a:alphaModFix/>
          </a:blip>
          <a:srcRect t="10035" b="9608"/>
          <a:stretch>
            <a:fillRect/>
          </a:stretch>
        </p:blipFill>
        <p:spPr>
          <a:xfrm>
            <a:off x="20" y="10"/>
            <a:ext cx="12191979" cy="6857990"/>
          </a:xfrm>
          <a:prstGeom prst="rect">
            <a:avLst/>
          </a:prstGeom>
        </p:spPr>
      </p:pic>
      <p:sp useBgFill="1">
        <p:nvSpPr>
          <p:cNvPr id="18" name="Rectangle 17">
            <a:extLst>
              <a:ext uri="{FF2B5EF4-FFF2-40B4-BE49-F238E27FC236}">
                <a16:creationId xmlns:a16="http://schemas.microsoft.com/office/drawing/2014/main" id="{AF57AFEC-D2BD-419F-ADB8-F5B1A23F3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6"/>
            <a:ext cx="12192000" cy="22859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A22F38-2EA6-645C-CAD5-511D826A4ED0}"/>
              </a:ext>
            </a:extLst>
          </p:cNvPr>
          <p:cNvSpPr>
            <a:spLocks noGrp="1"/>
          </p:cNvSpPr>
          <p:nvPr>
            <p:ph type="ctrTitle"/>
          </p:nvPr>
        </p:nvSpPr>
        <p:spPr>
          <a:xfrm>
            <a:off x="1052146" y="5194563"/>
            <a:ext cx="5653454" cy="996321"/>
          </a:xfrm>
        </p:spPr>
        <p:txBody>
          <a:bodyPr anchor="t">
            <a:normAutofit fontScale="90000"/>
          </a:bodyPr>
          <a:lstStyle/>
          <a:p>
            <a:r>
              <a:rPr lang="en-US" sz="4000" dirty="0"/>
              <a:t>Unlock AI context with MCP</a:t>
            </a:r>
          </a:p>
        </p:txBody>
      </p:sp>
      <p:sp>
        <p:nvSpPr>
          <p:cNvPr id="3" name="Subtitle 2">
            <a:extLst>
              <a:ext uri="{FF2B5EF4-FFF2-40B4-BE49-F238E27FC236}">
                <a16:creationId xmlns:a16="http://schemas.microsoft.com/office/drawing/2014/main" id="{E2EF241D-E835-812E-4053-135907616541}"/>
              </a:ext>
            </a:extLst>
          </p:cNvPr>
          <p:cNvSpPr>
            <a:spLocks noGrp="1"/>
          </p:cNvSpPr>
          <p:nvPr>
            <p:ph type="subTitle" idx="1"/>
          </p:nvPr>
        </p:nvSpPr>
        <p:spPr>
          <a:xfrm>
            <a:off x="7315201" y="5116875"/>
            <a:ext cx="4125608" cy="1074009"/>
          </a:xfrm>
        </p:spPr>
        <p:txBody>
          <a:bodyPr>
            <a:normAutofit/>
          </a:bodyPr>
          <a:lstStyle/>
          <a:p>
            <a:r>
              <a:rPr lang="en-US" dirty="0"/>
              <a:t>Srinath </a:t>
            </a:r>
          </a:p>
        </p:txBody>
      </p:sp>
      <p:cxnSp>
        <p:nvCxnSpPr>
          <p:cNvPr id="23" name="Straight Connector 22">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303550"/>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1969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047873-8F12-E744-B114-F5BF5B4217BA}"/>
              </a:ext>
            </a:extLst>
          </p:cNvPr>
          <p:cNvSpPr>
            <a:spLocks noGrp="1"/>
          </p:cNvSpPr>
          <p:nvPr>
            <p:ph type="title"/>
          </p:nvPr>
        </p:nvSpPr>
        <p:spPr>
          <a:xfrm>
            <a:off x="1091204" y="1091868"/>
            <a:ext cx="3785596" cy="2042160"/>
          </a:xfrm>
        </p:spPr>
        <p:txBody>
          <a:bodyPr vert="horz" lIns="91440" tIns="45720" rIns="91440" bIns="45720" rtlCol="0">
            <a:normAutofit/>
          </a:bodyPr>
          <a:lstStyle/>
          <a:p>
            <a:r>
              <a:rPr lang="en-US" sz="4000" cap="all" dirty="0"/>
              <a:t>What is MCP?</a:t>
            </a:r>
          </a:p>
        </p:txBody>
      </p:sp>
      <p:cxnSp>
        <p:nvCxnSpPr>
          <p:cNvPr id="31" name="Straight Connector 3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Content Placeholder 3">
            <a:extLst>
              <a:ext uri="{FF2B5EF4-FFF2-40B4-BE49-F238E27FC236}">
                <a16:creationId xmlns:a16="http://schemas.microsoft.com/office/drawing/2014/main" id="{63237988-A9F9-B61A-3BCE-E97A6BB98F59}"/>
              </a:ext>
            </a:extLst>
          </p:cNvPr>
          <p:cNvPicPr>
            <a:picLocks noChangeAspect="1"/>
          </p:cNvPicPr>
          <p:nvPr/>
        </p:nvPicPr>
        <p:blipFill>
          <a:blip r:embed="rId2"/>
          <a:srcRect l="4306" r="4304" b="-2"/>
          <a:stretch>
            <a:fillRect/>
          </a:stretch>
        </p:blipFill>
        <p:spPr>
          <a:xfrm>
            <a:off x="5163810" y="10"/>
            <a:ext cx="7028192" cy="6857990"/>
          </a:xfrm>
          <a:prstGeom prst="rect">
            <a:avLst/>
          </a:prstGeom>
        </p:spPr>
      </p:pic>
    </p:spTree>
    <p:extLst>
      <p:ext uri="{BB962C8B-B14F-4D97-AF65-F5344CB8AC3E}">
        <p14:creationId xmlns:p14="http://schemas.microsoft.com/office/powerpoint/2010/main" val="3644318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70E1A6-F337-C43D-C5C2-77548F0289D2}"/>
              </a:ext>
            </a:extLst>
          </p:cNvPr>
          <p:cNvSpPr>
            <a:spLocks noGrp="1"/>
          </p:cNvSpPr>
          <p:nvPr>
            <p:ph type="title"/>
          </p:nvPr>
        </p:nvSpPr>
        <p:spPr>
          <a:xfrm>
            <a:off x="1091204" y="1091868"/>
            <a:ext cx="3785596" cy="2042160"/>
          </a:xfrm>
        </p:spPr>
        <p:txBody>
          <a:bodyPr>
            <a:normAutofit/>
          </a:bodyPr>
          <a:lstStyle/>
          <a:p>
            <a:r>
              <a:rPr lang="en-US" sz="4000"/>
              <a:t>Brain in the jar</a:t>
            </a:r>
          </a:p>
        </p:txBody>
      </p:sp>
      <p:cxnSp>
        <p:nvCxnSpPr>
          <p:cNvPr id="19" name="Straight Connector 18">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robot with a brain inside a jar&#10;&#10;AI-generated content may be incorrect.">
            <a:extLst>
              <a:ext uri="{FF2B5EF4-FFF2-40B4-BE49-F238E27FC236}">
                <a16:creationId xmlns:a16="http://schemas.microsoft.com/office/drawing/2014/main" id="{F1ACD7CC-594B-61D6-2449-838BA59E2A7E}"/>
              </a:ext>
            </a:extLst>
          </p:cNvPr>
          <p:cNvPicPr>
            <a:picLocks noChangeAspect="1"/>
          </p:cNvPicPr>
          <p:nvPr/>
        </p:nvPicPr>
        <p:blipFill>
          <a:blip r:embed="rId2"/>
          <a:srcRect l="22392" r="24622" b="1"/>
          <a:stretch>
            <a:fillRect/>
          </a:stretch>
        </p:blipFill>
        <p:spPr>
          <a:xfrm>
            <a:off x="5524500" y="10"/>
            <a:ext cx="6667501" cy="6857990"/>
          </a:xfrm>
          <a:prstGeom prst="rect">
            <a:avLst/>
          </a:prstGeom>
        </p:spPr>
      </p:pic>
    </p:spTree>
    <p:extLst>
      <p:ext uri="{BB962C8B-B14F-4D97-AF65-F5344CB8AC3E}">
        <p14:creationId xmlns:p14="http://schemas.microsoft.com/office/powerpoint/2010/main" val="3573178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3" name="Rectangle 32">
            <a:extLst>
              <a:ext uri="{FF2B5EF4-FFF2-40B4-BE49-F238E27FC236}">
                <a16:creationId xmlns:a16="http://schemas.microsoft.com/office/drawing/2014/main" id="{54B5B241-837D-4FC3-92DF-8E4678289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F79605-9F46-F71B-380B-09515C83FDF5}"/>
              </a:ext>
            </a:extLst>
          </p:cNvPr>
          <p:cNvSpPr>
            <a:spLocks noGrp="1"/>
          </p:cNvSpPr>
          <p:nvPr>
            <p:ph type="title"/>
          </p:nvPr>
        </p:nvSpPr>
        <p:spPr>
          <a:xfrm>
            <a:off x="1088137" y="1088136"/>
            <a:ext cx="5436079" cy="1835528"/>
          </a:xfrm>
        </p:spPr>
        <p:txBody>
          <a:bodyPr vert="horz" lIns="91440" tIns="45720" rIns="91440" bIns="45720" rtlCol="0" anchor="t">
            <a:normAutofit/>
          </a:bodyPr>
          <a:lstStyle/>
          <a:p>
            <a:r>
              <a:rPr lang="en-US" sz="4000" cap="all"/>
              <a:t>N-by-M problem</a:t>
            </a:r>
          </a:p>
        </p:txBody>
      </p:sp>
      <p:cxnSp>
        <p:nvCxnSpPr>
          <p:cNvPr id="34" name="Straight Connector 33">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27" y="118634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diagram of a network&#10;&#10;AI-generated content may be incorrect.">
            <a:extLst>
              <a:ext uri="{FF2B5EF4-FFF2-40B4-BE49-F238E27FC236}">
                <a16:creationId xmlns:a16="http://schemas.microsoft.com/office/drawing/2014/main" id="{02637A80-F7C3-221B-FF1C-667C71F2D9F3}"/>
              </a:ext>
            </a:extLst>
          </p:cNvPr>
          <p:cNvPicPr>
            <a:picLocks noGrp="1" noChangeAspect="1"/>
          </p:cNvPicPr>
          <p:nvPr>
            <p:ph idx="1"/>
          </p:nvPr>
        </p:nvPicPr>
        <p:blipFill>
          <a:blip r:embed="rId2">
            <a:alphaModFix/>
          </a:blip>
          <a:srcRect r="3112" b="1"/>
          <a:stretch>
            <a:fillRect/>
          </a:stretch>
        </p:blipFill>
        <p:spPr>
          <a:xfrm>
            <a:off x="1088137" y="1691274"/>
            <a:ext cx="8644066" cy="4862283"/>
          </a:xfrm>
          <a:prstGeom prst="rect">
            <a:avLst/>
          </a:prstGeom>
        </p:spPr>
      </p:pic>
    </p:spTree>
    <p:extLst>
      <p:ext uri="{BB962C8B-B14F-4D97-AF65-F5344CB8AC3E}">
        <p14:creationId xmlns:p14="http://schemas.microsoft.com/office/powerpoint/2010/main" val="2121733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21CD8B-8B58-B0D1-B6EA-415ADFF39207}"/>
              </a:ext>
            </a:extLst>
          </p:cNvPr>
          <p:cNvSpPr>
            <a:spLocks noGrp="1"/>
          </p:cNvSpPr>
          <p:nvPr>
            <p:ph type="title"/>
          </p:nvPr>
        </p:nvSpPr>
        <p:spPr>
          <a:xfrm>
            <a:off x="1091204" y="1091868"/>
            <a:ext cx="4147804" cy="2042160"/>
          </a:xfrm>
        </p:spPr>
        <p:txBody>
          <a:bodyPr>
            <a:normAutofit/>
          </a:bodyPr>
          <a:lstStyle/>
          <a:p>
            <a:r>
              <a:rPr lang="en-US" sz="4000"/>
              <a:t>MCP</a:t>
            </a:r>
          </a:p>
        </p:txBody>
      </p:sp>
      <p:cxnSp>
        <p:nvCxnSpPr>
          <p:cNvPr id="27" name="Straight Connector 26">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80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Content Placeholder 8">
            <a:extLst>
              <a:ext uri="{FF2B5EF4-FFF2-40B4-BE49-F238E27FC236}">
                <a16:creationId xmlns:a16="http://schemas.microsoft.com/office/drawing/2014/main" id="{50C07C74-6069-AFB7-4EB7-EA43F0D9D31E}"/>
              </a:ext>
            </a:extLst>
          </p:cNvPr>
          <p:cNvSpPr>
            <a:spLocks noGrp="1"/>
          </p:cNvSpPr>
          <p:nvPr>
            <p:ph idx="1"/>
          </p:nvPr>
        </p:nvSpPr>
        <p:spPr>
          <a:xfrm>
            <a:off x="878610" y="3067656"/>
            <a:ext cx="3155206" cy="1737948"/>
          </a:xfrm>
        </p:spPr>
        <p:txBody>
          <a:bodyPr>
            <a:normAutofit/>
          </a:bodyPr>
          <a:lstStyle/>
          <a:p>
            <a:r>
              <a:rPr lang="en-GB" dirty="0"/>
              <a:t>MCP is an open standard that defines a universal communication protocol between AI Clients</a:t>
            </a:r>
          </a:p>
          <a:p>
            <a:endParaRPr lang="en-US" dirty="0"/>
          </a:p>
        </p:txBody>
      </p:sp>
      <p:pic>
        <p:nvPicPr>
          <p:cNvPr id="7" name="Picture 6" descr="A diagram of a computer&#10;&#10;AI-generated content may be incorrect.">
            <a:extLst>
              <a:ext uri="{FF2B5EF4-FFF2-40B4-BE49-F238E27FC236}">
                <a16:creationId xmlns:a16="http://schemas.microsoft.com/office/drawing/2014/main" id="{70A0460C-659D-E790-5338-9B01F9759EEC}"/>
              </a:ext>
            </a:extLst>
          </p:cNvPr>
          <p:cNvPicPr>
            <a:picLocks noChangeAspect="1"/>
          </p:cNvPicPr>
          <p:nvPr/>
        </p:nvPicPr>
        <p:blipFill>
          <a:blip r:embed="rId2"/>
          <a:stretch>
            <a:fillRect/>
          </a:stretch>
        </p:blipFill>
        <p:spPr>
          <a:xfrm>
            <a:off x="4333625" y="1833663"/>
            <a:ext cx="7229796" cy="3940238"/>
          </a:xfrm>
          <a:prstGeom prst="rect">
            <a:avLst/>
          </a:prstGeom>
        </p:spPr>
      </p:pic>
    </p:spTree>
    <p:extLst>
      <p:ext uri="{BB962C8B-B14F-4D97-AF65-F5344CB8AC3E}">
        <p14:creationId xmlns:p14="http://schemas.microsoft.com/office/powerpoint/2010/main" val="4089256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902D1A37-7C2A-4258-95A8-919D781C6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1C75F1-A1D5-D263-9114-91C60F2D79D6}"/>
              </a:ext>
            </a:extLst>
          </p:cNvPr>
          <p:cNvSpPr>
            <a:spLocks noGrp="1"/>
          </p:cNvSpPr>
          <p:nvPr>
            <p:ph type="title"/>
          </p:nvPr>
        </p:nvSpPr>
        <p:spPr>
          <a:xfrm>
            <a:off x="1069646" y="1092848"/>
            <a:ext cx="9958753" cy="680144"/>
          </a:xfrm>
        </p:spPr>
        <p:txBody>
          <a:bodyPr vert="horz" lIns="91440" tIns="45720" rIns="91440" bIns="45720" rtlCol="0" anchor="t">
            <a:normAutofit/>
          </a:bodyPr>
          <a:lstStyle/>
          <a:p>
            <a:r>
              <a:rPr lang="en-US" sz="4000" cap="all"/>
              <a:t>MCP Architecture</a:t>
            </a:r>
          </a:p>
        </p:txBody>
      </p:sp>
      <p:cxnSp>
        <p:nvCxnSpPr>
          <p:cNvPr id="25" name="Straight Connector 24">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26" y="1185999"/>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diagram of a computer network&#10;&#10;AI-generated content may be incorrect.">
            <a:extLst>
              <a:ext uri="{FF2B5EF4-FFF2-40B4-BE49-F238E27FC236}">
                <a16:creationId xmlns:a16="http://schemas.microsoft.com/office/drawing/2014/main" id="{71BBD5E2-4240-CB76-B7CA-0AAE0F6C116D}"/>
              </a:ext>
            </a:extLst>
          </p:cNvPr>
          <p:cNvPicPr>
            <a:picLocks noGrp="1" noChangeAspect="1"/>
          </p:cNvPicPr>
          <p:nvPr>
            <p:ph idx="1"/>
          </p:nvPr>
        </p:nvPicPr>
        <p:blipFill>
          <a:blip r:embed="rId2"/>
          <a:srcRect r="3112" b="1"/>
          <a:stretch>
            <a:fillRect/>
          </a:stretch>
        </p:blipFill>
        <p:spPr>
          <a:xfrm>
            <a:off x="1181100" y="1730915"/>
            <a:ext cx="8098824" cy="4555585"/>
          </a:xfrm>
          <a:prstGeom prst="rect">
            <a:avLst/>
          </a:prstGeom>
        </p:spPr>
      </p:pic>
    </p:spTree>
    <p:extLst>
      <p:ext uri="{BB962C8B-B14F-4D97-AF65-F5344CB8AC3E}">
        <p14:creationId xmlns:p14="http://schemas.microsoft.com/office/powerpoint/2010/main" val="1207959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0DC026F-444B-46C9-BCBE-329183BF5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97819A-89A2-D618-0647-C3604BF1AE27}"/>
              </a:ext>
            </a:extLst>
          </p:cNvPr>
          <p:cNvSpPr>
            <a:spLocks noGrp="1"/>
          </p:cNvSpPr>
          <p:nvPr>
            <p:ph type="title"/>
          </p:nvPr>
        </p:nvSpPr>
        <p:spPr>
          <a:xfrm>
            <a:off x="1088136" y="1088136"/>
            <a:ext cx="10270671" cy="1188720"/>
          </a:xfrm>
        </p:spPr>
        <p:txBody>
          <a:bodyPr>
            <a:normAutofit/>
          </a:bodyPr>
          <a:lstStyle/>
          <a:p>
            <a:r>
              <a:rPr lang="en-US" sz="4000"/>
              <a:t>Security &amp; Risk</a:t>
            </a:r>
          </a:p>
        </p:txBody>
      </p:sp>
      <p:cxnSp>
        <p:nvCxnSpPr>
          <p:cNvPr id="17" name="Straight Connector 16">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Content Placeholder 8">
            <a:extLst>
              <a:ext uri="{FF2B5EF4-FFF2-40B4-BE49-F238E27FC236}">
                <a16:creationId xmlns:a16="http://schemas.microsoft.com/office/drawing/2014/main" id="{4EDB8CC3-F369-D8F0-97EE-54AD733DD43C}"/>
              </a:ext>
            </a:extLst>
          </p:cNvPr>
          <p:cNvSpPr>
            <a:spLocks noGrp="1"/>
          </p:cNvSpPr>
          <p:nvPr>
            <p:ph idx="1"/>
          </p:nvPr>
        </p:nvSpPr>
        <p:spPr>
          <a:xfrm>
            <a:off x="1096684" y="2593181"/>
            <a:ext cx="4868347" cy="3693319"/>
          </a:xfrm>
        </p:spPr>
        <p:txBody>
          <a:bodyPr>
            <a:normAutofit/>
          </a:bodyPr>
          <a:lstStyle/>
          <a:p>
            <a:endParaRPr lang="en-US" dirty="0"/>
          </a:p>
          <a:p>
            <a:endParaRPr lang="en-US" dirty="0"/>
          </a:p>
        </p:txBody>
      </p:sp>
      <p:pic>
        <p:nvPicPr>
          <p:cNvPr id="10" name="Picture 9" descr="A close-up of a padlock&#10;&#10;AI-generated content may be incorrect.">
            <a:extLst>
              <a:ext uri="{FF2B5EF4-FFF2-40B4-BE49-F238E27FC236}">
                <a16:creationId xmlns:a16="http://schemas.microsoft.com/office/drawing/2014/main" id="{CD28E3AE-4156-E759-451E-F23E783F70D1}"/>
              </a:ext>
            </a:extLst>
          </p:cNvPr>
          <p:cNvPicPr>
            <a:picLocks noChangeAspect="1"/>
          </p:cNvPicPr>
          <p:nvPr/>
        </p:nvPicPr>
        <p:blipFill>
          <a:blip r:embed="rId2"/>
          <a:stretch>
            <a:fillRect/>
          </a:stretch>
        </p:blipFill>
        <p:spPr>
          <a:xfrm>
            <a:off x="1306116" y="2049103"/>
            <a:ext cx="7772400" cy="4237397"/>
          </a:xfrm>
          <a:prstGeom prst="rect">
            <a:avLst/>
          </a:prstGeom>
        </p:spPr>
      </p:pic>
    </p:spTree>
    <p:extLst>
      <p:ext uri="{BB962C8B-B14F-4D97-AF65-F5344CB8AC3E}">
        <p14:creationId xmlns:p14="http://schemas.microsoft.com/office/powerpoint/2010/main" val="1138727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11F4C-A414-2B47-CE0E-8381DF5C5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52D30-456E-5807-7269-41D64BB48D5D}"/>
              </a:ext>
            </a:extLst>
          </p:cNvPr>
          <p:cNvSpPr>
            <a:spLocks noGrp="1"/>
          </p:cNvSpPr>
          <p:nvPr>
            <p:ph type="title"/>
          </p:nvPr>
        </p:nvSpPr>
        <p:spPr/>
        <p:txBody>
          <a:bodyPr>
            <a:normAutofit fontScale="90000"/>
          </a:bodyPr>
          <a:lstStyle/>
          <a:p>
            <a:r>
              <a:rPr lang="en-GB" dirty="0"/>
              <a:t>Demo – Cloud Logging in GCP via GitHub Copilot</a:t>
            </a:r>
            <a:br>
              <a:rPr lang="en-GB" dirty="0"/>
            </a:br>
            <a:br>
              <a:rPr lang="en-GB" dirty="0"/>
            </a:br>
            <a:endParaRPr lang="en-US" dirty="0"/>
          </a:p>
        </p:txBody>
      </p:sp>
    </p:spTree>
    <p:extLst>
      <p:ext uri="{BB962C8B-B14F-4D97-AF65-F5344CB8AC3E}">
        <p14:creationId xmlns:p14="http://schemas.microsoft.com/office/powerpoint/2010/main" val="2007395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a16="http://schemas.microsoft.com/office/drawing/2014/main" id="{4DD10FE8-3DB7-481A-B708-9E14C9BE3A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white text on a green background&#10;&#10;AI-generated content may be incorrect.">
            <a:extLst>
              <a:ext uri="{FF2B5EF4-FFF2-40B4-BE49-F238E27FC236}">
                <a16:creationId xmlns:a16="http://schemas.microsoft.com/office/drawing/2014/main" id="{8FFBBA65-A3E2-B4D9-7AB0-85BB6ADABE95}"/>
              </a:ext>
            </a:extLst>
          </p:cNvPr>
          <p:cNvPicPr>
            <a:picLocks noChangeAspect="1"/>
          </p:cNvPicPr>
          <p:nvPr/>
        </p:nvPicPr>
        <p:blipFill>
          <a:blip r:embed="rId2"/>
          <a:srcRect r="1" b="4287"/>
          <a:stretch>
            <a:fillRect/>
          </a:stretch>
        </p:blipFill>
        <p:spPr>
          <a:xfrm>
            <a:off x="567813" y="516194"/>
            <a:ext cx="11052687" cy="5765559"/>
          </a:xfrm>
          <a:prstGeom prst="rect">
            <a:avLst/>
          </a:prstGeom>
        </p:spPr>
      </p:pic>
    </p:spTree>
    <p:extLst>
      <p:ext uri="{BB962C8B-B14F-4D97-AF65-F5344CB8AC3E}">
        <p14:creationId xmlns:p14="http://schemas.microsoft.com/office/powerpoint/2010/main" val="3336089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0E7917-8F76-5D7D-7731-D11F9EF83644}"/>
              </a:ext>
            </a:extLst>
          </p:cNvPr>
          <p:cNvSpPr>
            <a:spLocks noGrp="1"/>
          </p:cNvSpPr>
          <p:nvPr>
            <p:ph idx="1"/>
          </p:nvPr>
        </p:nvSpPr>
        <p:spPr>
          <a:xfrm>
            <a:off x="989282" y="643691"/>
            <a:ext cx="9922764" cy="5942460"/>
          </a:xfrm>
        </p:spPr>
        <p:txBody>
          <a:bodyPr>
            <a:normAutofit fontScale="25000" lnSpcReduction="20000"/>
          </a:bodyPr>
          <a:lstStyle/>
          <a:p>
            <a:r>
              <a:rPr lang="en-GB" dirty="0"/>
              <a:t>we all know the current bottleneck in building useful AI assistants: </a:t>
            </a:r>
          </a:p>
          <a:p>
            <a:r>
              <a:rPr lang="en-GB" dirty="0"/>
              <a:t>Data context. </a:t>
            </a:r>
          </a:p>
          <a:p>
            <a:r>
              <a:rPr lang="en-GB" dirty="0"/>
              <a:t>An LLM is a genius locked in a room; it knows a lot, but it can’t see your production logs, it can't read your GitHub repo, and it can't query your SQL database unless you build a custom bridge for every single one.</a:t>
            </a:r>
          </a:p>
          <a:p>
            <a:br>
              <a:rPr lang="en-GB" dirty="0"/>
            </a:br>
            <a:br>
              <a:rPr lang="en-GB" dirty="0"/>
            </a:br>
            <a:endParaRPr lang="en-GB" dirty="0"/>
          </a:p>
          <a:p>
            <a:r>
              <a:rPr lang="en-GB" dirty="0"/>
              <a:t>Right now, if you want Claude to talk to your internal API, you write an integration. If you want to switch to OpenAI or Llama later? You rewrite that integration. We are facing an 'N-by-M' problem—a messy matrix of proprietary API connections that is impossible to scale and a nightmare to secure."</a:t>
            </a:r>
          </a:p>
          <a:p>
            <a:br>
              <a:rPr lang="en-GB" dirty="0"/>
            </a:br>
            <a:endParaRPr lang="en-GB" dirty="0"/>
          </a:p>
          <a:p>
            <a:r>
              <a:rPr lang="en-GB" dirty="0"/>
              <a:t>MCP.</a:t>
            </a:r>
          </a:p>
          <a:p>
            <a:r>
              <a:rPr lang="en-GB" dirty="0"/>
              <a:t>Think of MCP as a USB-C port for Artificial Intelligence. Before USB, we had a different cable for printers, mice, and keyboards. Now, we have one standard. MCP does the exact same thing for AI models and data sources.</a:t>
            </a:r>
          </a:p>
          <a:p>
            <a:br>
              <a:rPr lang="en-GB" dirty="0"/>
            </a:br>
            <a:endParaRPr lang="en-GB" dirty="0"/>
          </a:p>
          <a:p>
            <a:r>
              <a:rPr lang="en-GB" dirty="0"/>
              <a:t>MCP is an open standard that defines a universal communication protocol between AI Clients (like the Claude Desktop app or the Cursor IDE) and Data Servers (your repositories, databases, or slack channels).</a:t>
            </a:r>
          </a:p>
          <a:p>
            <a:br>
              <a:rPr lang="en-GB" dirty="0"/>
            </a:br>
            <a:endParaRPr lang="en-GB" dirty="0"/>
          </a:p>
          <a:p>
            <a:r>
              <a:rPr lang="en-GB" dirty="0"/>
              <a:t>It standardizes three things:</a:t>
            </a:r>
          </a:p>
          <a:p>
            <a:r>
              <a:rPr lang="en-GB" dirty="0"/>
              <a:t>Context: Reading resources (like files or logs).</a:t>
            </a:r>
          </a:p>
          <a:p>
            <a:r>
              <a:rPr lang="en-GB" dirty="0"/>
              <a:t>Tools: Executing code or API calls.</a:t>
            </a:r>
          </a:p>
          <a:p>
            <a:r>
              <a:rPr lang="en-GB" dirty="0"/>
              <a:t>Prompts: Pre-defined templates for specific tasks.</a:t>
            </a:r>
          </a:p>
          <a:p>
            <a:br>
              <a:rPr lang="en-GB" dirty="0"/>
            </a:br>
            <a:endParaRPr lang="en-GB" dirty="0"/>
          </a:p>
          <a:p>
            <a:r>
              <a:rPr lang="en-GB" dirty="0"/>
              <a:t>Instead of hard-coding an integration into an LLM, you simply spin up a lightweight 'MCP Server.' Any AI application that speaks the protocol can instantly plug into that server to safely access your data."</a:t>
            </a:r>
          </a:p>
          <a:p>
            <a:br>
              <a:rPr lang="en-GB" dirty="0"/>
            </a:br>
            <a:endParaRPr lang="en-GB" dirty="0"/>
          </a:p>
          <a:p>
            <a:r>
              <a:rPr lang="en-GB" dirty="0"/>
              <a:t>First, Write Once, Run Everywhere. You can build an MCP server for your internal legacy database once. That server can now be accessed by Claude, various IDEs, or any future AI agent that supports the standard. You are no longer vendor-locked to a specific AI provider's ecosystem.</a:t>
            </a:r>
          </a:p>
          <a:p>
            <a:br>
              <a:rPr lang="en-GB" dirty="0"/>
            </a:br>
            <a:endParaRPr lang="en-GB" dirty="0"/>
          </a:p>
          <a:p>
            <a:r>
              <a:rPr lang="en-GB" dirty="0"/>
              <a:t>Second, Security boundaries. As IT admins, we hate giving LLMs blanket access to systems. MCP allows us to run these connections locally or within our own firewalls. The MCP server acts as a controlled gateway—you define exactly what resources are exposed to the model. The model asks for permission, and the user (or admin) approves it."</a:t>
            </a:r>
          </a:p>
          <a:p>
            <a:br>
              <a:rPr lang="en-GB" dirty="0"/>
            </a:br>
            <a:endParaRPr lang="en-GB" dirty="0"/>
          </a:p>
          <a:p>
            <a:r>
              <a:rPr lang="en-GB" dirty="0"/>
              <a:t>MCP is shifting the industry from fragmentation to standardization. It is open-source and already supported by major players. If we want to build AI agents that actually do work—debugging code, </a:t>
            </a:r>
            <a:r>
              <a:rPr lang="en-GB" dirty="0" err="1"/>
              <a:t>analyzing</a:t>
            </a:r>
            <a:r>
              <a:rPr lang="en-GB" dirty="0"/>
              <a:t> logs, or managing tickets—we need a standard way to give them context. MCP is that standard.</a:t>
            </a:r>
          </a:p>
          <a:p>
            <a:br>
              <a:rPr lang="en-GB" dirty="0"/>
            </a:br>
            <a:br>
              <a:rPr lang="en-GB" dirty="0"/>
            </a:br>
            <a:br>
              <a:rPr lang="en-GB" dirty="0"/>
            </a:br>
            <a:br>
              <a:rPr lang="en-GB" dirty="0"/>
            </a:br>
            <a:br>
              <a:rPr lang="en-GB" dirty="0"/>
            </a:br>
            <a:br>
              <a:rPr lang="en-GB" dirty="0"/>
            </a:br>
            <a:br>
              <a:rPr lang="en-GB" dirty="0"/>
            </a:br>
            <a:endParaRPr lang="en-GB" dirty="0"/>
          </a:p>
          <a:p>
            <a:r>
              <a:rPr lang="en-GB" dirty="0"/>
              <a:t>---------------------</a:t>
            </a:r>
          </a:p>
          <a:p>
            <a:r>
              <a:rPr lang="en-GB" dirty="0"/>
              <a:t>Here is a comprehensive speaker script and slide guide designed for a 10-15 minute presentation. It flows logically from the problem to the solution, the technical architecture, the risks, and finally a practical demonstration.</a:t>
            </a:r>
          </a:p>
          <a:p>
            <a:br>
              <a:rPr lang="en-GB" dirty="0"/>
            </a:br>
            <a:endParaRPr lang="en-GB" dirty="0"/>
          </a:p>
          <a:p>
            <a:r>
              <a:rPr lang="en-GB" dirty="0"/>
              <a:t>Presentation Overview</a:t>
            </a:r>
          </a:p>
          <a:p>
            <a:br>
              <a:rPr lang="en-GB" dirty="0"/>
            </a:br>
            <a:endParaRPr lang="en-GB" dirty="0"/>
          </a:p>
          <a:p>
            <a:r>
              <a:rPr lang="en-GB" dirty="0"/>
              <a:t>Title: Unlocking AI Context with MCP</a:t>
            </a:r>
          </a:p>
          <a:p>
            <a:br>
              <a:rPr lang="en-GB" dirty="0"/>
            </a:br>
            <a:endParaRPr lang="en-GB" dirty="0"/>
          </a:p>
          <a:p>
            <a:r>
              <a:rPr lang="en-GB" dirty="0"/>
              <a:t>Audience: IT Professionals / Architects / Developers</a:t>
            </a:r>
          </a:p>
          <a:p>
            <a:br>
              <a:rPr lang="en-GB" dirty="0"/>
            </a:br>
            <a:endParaRPr lang="en-GB" dirty="0"/>
          </a:p>
          <a:p>
            <a:r>
              <a:rPr lang="en-GB" dirty="0"/>
              <a:t>Total Time: 10-15 Minutes</a:t>
            </a:r>
          </a:p>
          <a:p>
            <a:br>
              <a:rPr lang="en-GB" dirty="0"/>
            </a:br>
            <a:endParaRPr lang="en-GB" dirty="0"/>
          </a:p>
          <a:p>
            <a:r>
              <a:rPr lang="en-GB" dirty="0"/>
              <a:t>Slide 1: What is MCP?</a:t>
            </a:r>
          </a:p>
          <a:p>
            <a:br>
              <a:rPr lang="en-GB" dirty="0"/>
            </a:br>
            <a:endParaRPr lang="en-GB" dirty="0"/>
          </a:p>
          <a:p>
            <a:r>
              <a:rPr lang="en-GB" dirty="0"/>
              <a:t>Visual: The MCP Logo or a simple equation: AI Models + Your Data = MCP.</a:t>
            </a:r>
          </a:p>
          <a:p>
            <a:r>
              <a:rPr lang="en-GB" dirty="0"/>
              <a:t>Subtitle: The "USB-C" Standard for AI Connectivity.</a:t>
            </a:r>
          </a:p>
          <a:p>
            <a:br>
              <a:rPr lang="en-GB" dirty="0"/>
            </a:br>
            <a:endParaRPr lang="en-GB" dirty="0"/>
          </a:p>
          <a:p>
            <a:r>
              <a:rPr lang="en-GB" dirty="0"/>
              <a:t>Speaker Notes (2 Minutes):</a:t>
            </a:r>
          </a:p>
          <a:p>
            <a:r>
              <a:rPr lang="en-GB" dirty="0"/>
              <a:t>"Good [morning/afternoon]. Today we are going to talk about the Model Context Protocol, or MCP.</a:t>
            </a:r>
          </a:p>
          <a:p>
            <a:br>
              <a:rPr lang="en-GB" dirty="0"/>
            </a:br>
            <a:endParaRPr lang="en-GB" dirty="0"/>
          </a:p>
          <a:p>
            <a:r>
              <a:rPr lang="en-GB" dirty="0"/>
              <a:t>We are currently in a transition period in AI development. We’ve moved past just chatting with bots; we are now trying to build agents that do real work. But there is a massive friction point: Interoperability.</a:t>
            </a:r>
          </a:p>
          <a:p>
            <a:br>
              <a:rPr lang="en-GB" dirty="0"/>
            </a:br>
            <a:endParaRPr lang="en-GB" dirty="0"/>
          </a:p>
          <a:p>
            <a:r>
              <a:rPr lang="en-GB" dirty="0"/>
              <a:t>MCP is an open standard—originally open-sourced by Anthropic but now an industry-wide initiative—that standardizes how AI models interact with external data and tools.</a:t>
            </a:r>
          </a:p>
          <a:p>
            <a:br>
              <a:rPr lang="en-GB" dirty="0"/>
            </a:br>
            <a:endParaRPr lang="en-GB" dirty="0"/>
          </a:p>
          <a:p>
            <a:r>
              <a:rPr lang="en-GB" dirty="0"/>
              <a:t>Think of MCP as the USB-C port for AI.</a:t>
            </a:r>
          </a:p>
          <a:p>
            <a:r>
              <a:rPr lang="en-GB" dirty="0"/>
              <a:t>Before USB-C, you needed a different cable for your printer, your mouse, and your monitor. It was messy. MCP does for AI what USB did for hardware. It provides a universal way for any AI application (like Claude or an IDE) to connect to any data source (like Google Drive, Slack, or PostgreSQL) without custom integrations."</a:t>
            </a:r>
          </a:p>
          <a:p>
            <a:br>
              <a:rPr lang="en-GB" dirty="0"/>
            </a:br>
            <a:endParaRPr lang="en-GB" dirty="0"/>
          </a:p>
          <a:p>
            <a:r>
              <a:rPr lang="en-GB" dirty="0"/>
              <a:t>Slide 2: The "Brain in a Jar" Problem</a:t>
            </a:r>
          </a:p>
          <a:p>
            <a:br>
              <a:rPr lang="en-GB" dirty="0"/>
            </a:br>
            <a:endParaRPr lang="en-GB" dirty="0"/>
          </a:p>
          <a:p>
            <a:r>
              <a:rPr lang="en-GB" dirty="0"/>
              <a:t>Visual: An illustration of a glowing brain floating inside a glass jar, isolated. Outside the jar are icons for Databases, Logs, and Code Repositories.</a:t>
            </a:r>
          </a:p>
          <a:p>
            <a:br>
              <a:rPr lang="en-GB" dirty="0"/>
            </a:br>
            <a:endParaRPr lang="en-GB" dirty="0"/>
          </a:p>
          <a:p>
            <a:r>
              <a:rPr lang="en-GB" dirty="0"/>
              <a:t>Speaker Notes (2 Minutes):</a:t>
            </a:r>
          </a:p>
          <a:p>
            <a:r>
              <a:rPr lang="en-GB" dirty="0"/>
              <a:t>"To understand why we need MCP, we have to look at the fundamental limitation of Large Language Models today.</a:t>
            </a:r>
          </a:p>
          <a:p>
            <a:br>
              <a:rPr lang="en-GB" dirty="0"/>
            </a:br>
            <a:endParaRPr lang="en-GB" dirty="0"/>
          </a:p>
          <a:p>
            <a:r>
              <a:rPr lang="en-GB" dirty="0"/>
              <a:t>I call this the 'Brain in a Jar' problem.</a:t>
            </a:r>
          </a:p>
          <a:p>
            <a:r>
              <a:rPr lang="en-GB" dirty="0"/>
              <a:t>LLMs are geniuses. They know everything about Python syntax, history, and literature. But they are locked in a room.</a:t>
            </a:r>
          </a:p>
          <a:p>
            <a:br>
              <a:rPr lang="en-GB" dirty="0"/>
            </a:br>
            <a:endParaRPr lang="en-GB" dirty="0"/>
          </a:p>
          <a:p>
            <a:r>
              <a:rPr lang="en-GB" dirty="0"/>
              <a:t>They don't know about the production outage that started 10 minutes ago.</a:t>
            </a:r>
          </a:p>
          <a:p>
            <a:br>
              <a:rPr lang="en-GB" dirty="0"/>
            </a:br>
            <a:endParaRPr lang="en-GB" dirty="0"/>
          </a:p>
          <a:p>
            <a:r>
              <a:rPr lang="en-GB" dirty="0"/>
              <a:t>They can't see the private code in your GitHub repository.</a:t>
            </a:r>
          </a:p>
          <a:p>
            <a:br>
              <a:rPr lang="en-GB" dirty="0"/>
            </a:br>
            <a:endParaRPr lang="en-GB" dirty="0"/>
          </a:p>
          <a:p>
            <a:r>
              <a:rPr lang="en-GB" dirty="0"/>
              <a:t>They can't query your customer database.</a:t>
            </a:r>
          </a:p>
          <a:p>
            <a:br>
              <a:rPr lang="en-GB" dirty="0"/>
            </a:br>
            <a:endParaRPr lang="en-GB" dirty="0"/>
          </a:p>
          <a:p>
            <a:r>
              <a:rPr lang="en-GB" dirty="0"/>
              <a:t>Currently, to get data into the brain, we either copy-paste logs manually (which is insecure and slow) or we try to build custom bridges. But the model remains fundamentally isolated from the context it needs to solve your specific business problems."</a:t>
            </a:r>
          </a:p>
          <a:p>
            <a:br>
              <a:rPr lang="en-GB" dirty="0"/>
            </a:br>
            <a:endParaRPr lang="en-GB" dirty="0"/>
          </a:p>
          <a:p>
            <a:r>
              <a:rPr lang="en-GB" dirty="0"/>
              <a:t>Slide 3: The N x M Problem</a:t>
            </a:r>
          </a:p>
          <a:p>
            <a:br>
              <a:rPr lang="en-GB" dirty="0"/>
            </a:br>
            <a:endParaRPr lang="en-GB" dirty="0"/>
          </a:p>
          <a:p>
            <a:r>
              <a:rPr lang="en-GB" dirty="0"/>
              <a:t>Visual: A chaotic web of lines.</a:t>
            </a:r>
          </a:p>
          <a:p>
            <a:br>
              <a:rPr lang="en-GB" dirty="0"/>
            </a:br>
            <a:endParaRPr lang="en-GB" dirty="0"/>
          </a:p>
          <a:p>
            <a:r>
              <a:rPr lang="en-GB" dirty="0"/>
              <a:t>Left side: 5 different AI Models (Claude, GPT-4, Llama, Gemini, Mistral).</a:t>
            </a:r>
          </a:p>
          <a:p>
            <a:br>
              <a:rPr lang="en-GB" dirty="0"/>
            </a:br>
            <a:endParaRPr lang="en-GB" dirty="0"/>
          </a:p>
          <a:p>
            <a:r>
              <a:rPr lang="en-GB" dirty="0"/>
              <a:t>Right side: 5 different Data Sources (Slack, Jira, SQL, Local Files, Splunk).</a:t>
            </a:r>
          </a:p>
          <a:p>
            <a:br>
              <a:rPr lang="en-GB" dirty="0"/>
            </a:br>
            <a:endParaRPr lang="en-GB" dirty="0"/>
          </a:p>
          <a:p>
            <a:r>
              <a:rPr lang="en-GB" dirty="0"/>
              <a:t>Middle: A mess of crisscrossing lines connecting everything to everything.</a:t>
            </a:r>
          </a:p>
          <a:p>
            <a:br>
              <a:rPr lang="en-GB" dirty="0"/>
            </a:br>
            <a:endParaRPr lang="en-GB" dirty="0"/>
          </a:p>
          <a:p>
            <a:r>
              <a:rPr lang="en-GB" dirty="0"/>
              <a:t>Speaker Notes (2 Minutes):</a:t>
            </a:r>
          </a:p>
          <a:p>
            <a:r>
              <a:rPr lang="en-GB" dirty="0"/>
              <a:t>"This isolation forces developers to build custom integrations. And that leads us to the N-by-M Problem.</a:t>
            </a:r>
          </a:p>
          <a:p>
            <a:br>
              <a:rPr lang="en-GB" dirty="0"/>
            </a:br>
            <a:endParaRPr lang="en-GB" dirty="0"/>
          </a:p>
          <a:p>
            <a:r>
              <a:rPr lang="en-GB" dirty="0"/>
              <a:t>If you have 5 different AI tools you want to use (like Cursor, Claude, and ChatGPT) and 5 different data sources (like Jira, GitHub, and SQL), you theoretically have to build and maintain 25 different integrations.</a:t>
            </a:r>
          </a:p>
          <a:p>
            <a:br>
              <a:rPr lang="en-GB" dirty="0"/>
            </a:br>
            <a:endParaRPr lang="en-GB" dirty="0"/>
          </a:p>
          <a:p>
            <a:r>
              <a:rPr lang="en-GB" dirty="0"/>
              <a:t>If OpenAI changes their API? You rewrite code.</a:t>
            </a:r>
          </a:p>
          <a:p>
            <a:br>
              <a:rPr lang="en-GB" dirty="0"/>
            </a:br>
            <a:endParaRPr lang="en-GB" dirty="0"/>
          </a:p>
          <a:p>
            <a:r>
              <a:rPr lang="en-GB" dirty="0"/>
              <a:t>If you migrate from Jira to Linear? You rewrite code.</a:t>
            </a:r>
          </a:p>
          <a:p>
            <a:br>
              <a:rPr lang="en-GB" dirty="0"/>
            </a:br>
            <a:endParaRPr lang="en-GB" dirty="0"/>
          </a:p>
          <a:p>
            <a:r>
              <a:rPr lang="en-GB" dirty="0"/>
              <a:t>This is 'Spaghetti Integration.' It is fragile, it doesn't scale, and it is a nightmare to secure. We are spending more time maintaining pipelines than building actual AI agents. MCP solves this by placing a standard protocol in the middle. You build the connector once, and it works for every model."</a:t>
            </a:r>
          </a:p>
          <a:p>
            <a:br>
              <a:rPr lang="en-GB" dirty="0"/>
            </a:br>
            <a:endParaRPr lang="en-GB" dirty="0"/>
          </a:p>
          <a:p>
            <a:r>
              <a:rPr lang="en-GB" dirty="0"/>
              <a:t>Slide 4: Architecture of MCP</a:t>
            </a:r>
          </a:p>
          <a:p>
            <a:br>
              <a:rPr lang="en-GB" dirty="0"/>
            </a:br>
            <a:endParaRPr lang="en-GB" dirty="0"/>
          </a:p>
          <a:p>
            <a:r>
              <a:rPr lang="en-GB" dirty="0"/>
              <a:t>Visual: A clean architectural diagram (based on official docs).</a:t>
            </a:r>
          </a:p>
          <a:p>
            <a:br>
              <a:rPr lang="en-GB" dirty="0"/>
            </a:br>
            <a:endParaRPr lang="en-GB" dirty="0"/>
          </a:p>
          <a:p>
            <a:r>
              <a:rPr lang="en-GB" dirty="0"/>
              <a:t>Host (Left): The Application (e.g., VS Code, Claude Desktop).</a:t>
            </a:r>
          </a:p>
          <a:p>
            <a:br>
              <a:rPr lang="en-GB" dirty="0"/>
            </a:br>
            <a:endParaRPr lang="en-GB" dirty="0"/>
          </a:p>
          <a:p>
            <a:r>
              <a:rPr lang="en-GB" dirty="0"/>
              <a:t>Client (Inside Host): The MCP Client (maintains the connection).</a:t>
            </a:r>
          </a:p>
          <a:p>
            <a:br>
              <a:rPr lang="en-GB" dirty="0"/>
            </a:br>
            <a:endParaRPr lang="en-GB" dirty="0"/>
          </a:p>
          <a:p>
            <a:r>
              <a:rPr lang="en-GB" dirty="0"/>
              <a:t>Transport Layer: Arrows </a:t>
            </a:r>
            <a:r>
              <a:rPr lang="en-GB" dirty="0" err="1"/>
              <a:t>labeled</a:t>
            </a:r>
            <a:r>
              <a:rPr lang="en-GB" dirty="0"/>
              <a:t> "</a:t>
            </a:r>
            <a:r>
              <a:rPr lang="en-GB" dirty="0" err="1"/>
              <a:t>Stdio</a:t>
            </a:r>
            <a:r>
              <a:rPr lang="en-GB" dirty="0"/>
              <a:t>" (Local) and "SSE" (Remote/HTTP).</a:t>
            </a:r>
          </a:p>
          <a:p>
            <a:br>
              <a:rPr lang="en-GB" dirty="0"/>
            </a:br>
            <a:endParaRPr lang="en-GB" dirty="0"/>
          </a:p>
          <a:p>
            <a:r>
              <a:rPr lang="en-GB" dirty="0"/>
              <a:t>Server (Right): The MCP Server (The gateway to data).</a:t>
            </a:r>
          </a:p>
          <a:p>
            <a:br>
              <a:rPr lang="en-GB" dirty="0"/>
            </a:br>
            <a:endParaRPr lang="en-GB" dirty="0"/>
          </a:p>
          <a:p>
            <a:r>
              <a:rPr lang="en-GB" dirty="0"/>
              <a:t>Primitives: Icons for Resources (Data), Prompts (Templates), Tools (Functions).</a:t>
            </a:r>
          </a:p>
          <a:p>
            <a:br>
              <a:rPr lang="en-GB" dirty="0"/>
            </a:br>
            <a:endParaRPr lang="en-GB" dirty="0"/>
          </a:p>
          <a:p>
            <a:r>
              <a:rPr lang="en-GB" dirty="0"/>
              <a:t>Speaker Notes (3 Minutes):</a:t>
            </a:r>
          </a:p>
          <a:p>
            <a:r>
              <a:rPr lang="en-GB" dirty="0"/>
              <a:t>"So, how does it work under the hood? The architecture is client-server based.</a:t>
            </a:r>
          </a:p>
          <a:p>
            <a:br>
              <a:rPr lang="en-GB" dirty="0"/>
            </a:br>
            <a:endParaRPr lang="en-GB" dirty="0"/>
          </a:p>
          <a:p>
            <a:r>
              <a:rPr lang="en-GB" dirty="0"/>
              <a:t>The Host: This is the AI application you are using, like VS Code or the Claude Desktop app.</a:t>
            </a:r>
          </a:p>
          <a:p>
            <a:br>
              <a:rPr lang="en-GB" dirty="0"/>
            </a:br>
            <a:endParaRPr lang="en-GB" dirty="0"/>
          </a:p>
          <a:p>
            <a:r>
              <a:rPr lang="en-GB" dirty="0"/>
              <a:t>The Client: Inside the host, there is an MCP Client. Its job is to maintain a 1:1 connection with the server.</a:t>
            </a:r>
          </a:p>
          <a:p>
            <a:br>
              <a:rPr lang="en-GB" dirty="0"/>
            </a:br>
            <a:endParaRPr lang="en-GB" dirty="0"/>
          </a:p>
          <a:p>
            <a:r>
              <a:rPr lang="en-GB" dirty="0"/>
              <a:t>The Server: This is the most important part for us. The MCP Server is a lightweight program that sits on top of your data. It exposes three specific things:</a:t>
            </a:r>
          </a:p>
          <a:p>
            <a:br>
              <a:rPr lang="en-GB" dirty="0"/>
            </a:br>
            <a:endParaRPr lang="en-GB" dirty="0"/>
          </a:p>
          <a:p>
            <a:r>
              <a:rPr lang="en-GB" dirty="0"/>
              <a:t>Resources: Passive data like reading a log file.</a:t>
            </a:r>
          </a:p>
          <a:p>
            <a:br>
              <a:rPr lang="en-GB" dirty="0"/>
            </a:br>
            <a:endParaRPr lang="en-GB" dirty="0"/>
          </a:p>
          <a:p>
            <a:r>
              <a:rPr lang="en-GB" dirty="0"/>
              <a:t>Prompts: Pre-written templates for common tasks.</a:t>
            </a:r>
          </a:p>
          <a:p>
            <a:br>
              <a:rPr lang="en-GB" dirty="0"/>
            </a:br>
            <a:endParaRPr lang="en-GB" dirty="0"/>
          </a:p>
          <a:p>
            <a:r>
              <a:rPr lang="en-GB" dirty="0"/>
              <a:t>Tools: Executable functions, like '</a:t>
            </a:r>
            <a:r>
              <a:rPr lang="en-GB" dirty="0" err="1"/>
              <a:t>run_query</a:t>
            </a:r>
            <a:r>
              <a:rPr lang="en-GB" dirty="0"/>
              <a:t>' or '</a:t>
            </a:r>
            <a:r>
              <a:rPr lang="en-GB" dirty="0" err="1"/>
              <a:t>restart_pod</a:t>
            </a:r>
            <a:r>
              <a:rPr lang="en-GB" dirty="0"/>
              <a:t>.'</a:t>
            </a:r>
          </a:p>
          <a:p>
            <a:br>
              <a:rPr lang="en-GB" dirty="0"/>
            </a:br>
            <a:endParaRPr lang="en-GB" dirty="0"/>
          </a:p>
          <a:p>
            <a:r>
              <a:rPr lang="en-GB" dirty="0"/>
              <a:t>The Transport:</a:t>
            </a:r>
          </a:p>
          <a:p>
            <a:br>
              <a:rPr lang="en-GB" dirty="0"/>
            </a:br>
            <a:endParaRPr lang="en-GB" dirty="0"/>
          </a:p>
          <a:p>
            <a:r>
              <a:rPr lang="en-GB" dirty="0"/>
              <a:t>If you are running locally, they talk via </a:t>
            </a:r>
            <a:r>
              <a:rPr lang="en-GB" dirty="0" err="1"/>
              <a:t>Stdio</a:t>
            </a:r>
            <a:r>
              <a:rPr lang="en-GB" dirty="0"/>
              <a:t> (standard input/output).</a:t>
            </a:r>
          </a:p>
          <a:p>
            <a:br>
              <a:rPr lang="en-GB" dirty="0"/>
            </a:br>
            <a:endParaRPr lang="en-GB" dirty="0"/>
          </a:p>
          <a:p>
            <a:r>
              <a:rPr lang="en-GB" dirty="0"/>
              <a:t>If you are running in an enterprise architecture (like the Cloud Run model we discussed previously), they talk via SSE (Server-Sent Events) over HTTP.</a:t>
            </a:r>
          </a:p>
          <a:p>
            <a:br>
              <a:rPr lang="en-GB" dirty="0"/>
            </a:br>
            <a:endParaRPr lang="en-GB" dirty="0"/>
          </a:p>
          <a:p>
            <a:r>
              <a:rPr lang="en-GB" dirty="0"/>
              <a:t>The beauty here is that the Host doesn't know how to query the database. It just asks the Server, 'What tools do you have?' and the Server replies, 'I can run SQL.' The protocol handles the rest."</a:t>
            </a:r>
          </a:p>
          <a:p>
            <a:br>
              <a:rPr lang="en-GB" dirty="0"/>
            </a:br>
            <a:endParaRPr lang="en-GB" dirty="0"/>
          </a:p>
          <a:p>
            <a:r>
              <a:rPr lang="en-GB" dirty="0"/>
              <a:t>Slide 5: Security &amp; Risks</a:t>
            </a:r>
          </a:p>
          <a:p>
            <a:br>
              <a:rPr lang="en-GB" dirty="0"/>
            </a:br>
            <a:endParaRPr lang="en-GB" dirty="0"/>
          </a:p>
          <a:p>
            <a:r>
              <a:rPr lang="en-GB" dirty="0"/>
              <a:t>Visual: A "Warning" slide listing the Top 5 Risks.</a:t>
            </a:r>
          </a:p>
          <a:p>
            <a:br>
              <a:rPr lang="en-GB" dirty="0"/>
            </a:br>
            <a:endParaRPr lang="en-GB" dirty="0"/>
          </a:p>
          <a:p>
            <a:r>
              <a:rPr lang="en-GB" dirty="0"/>
              <a:t>Unauthorized Tool Exposure</a:t>
            </a:r>
          </a:p>
          <a:p>
            <a:br>
              <a:rPr lang="en-GB" dirty="0"/>
            </a:br>
            <a:endParaRPr lang="en-GB" dirty="0"/>
          </a:p>
          <a:p>
            <a:r>
              <a:rPr lang="en-GB" dirty="0"/>
              <a:t>Session Hijacking</a:t>
            </a:r>
          </a:p>
          <a:p>
            <a:br>
              <a:rPr lang="en-GB" dirty="0"/>
            </a:br>
            <a:endParaRPr lang="en-GB" dirty="0"/>
          </a:p>
          <a:p>
            <a:r>
              <a:rPr lang="en-GB" dirty="0"/>
              <a:t>Tool Shadowing</a:t>
            </a:r>
          </a:p>
          <a:p>
            <a:br>
              <a:rPr lang="en-GB" dirty="0"/>
            </a:br>
            <a:endParaRPr lang="en-GB" dirty="0"/>
          </a:p>
          <a:p>
            <a:r>
              <a:rPr lang="en-GB" dirty="0"/>
              <a:t>Sensitive Data Exposure</a:t>
            </a:r>
          </a:p>
          <a:p>
            <a:br>
              <a:rPr lang="en-GB" dirty="0"/>
            </a:br>
            <a:endParaRPr lang="en-GB" dirty="0"/>
          </a:p>
          <a:p>
            <a:r>
              <a:rPr lang="en-GB" dirty="0"/>
              <a:t>Authentication Bypass</a:t>
            </a:r>
          </a:p>
          <a:p>
            <a:br>
              <a:rPr lang="en-GB" dirty="0"/>
            </a:br>
            <a:endParaRPr lang="en-GB" dirty="0"/>
          </a:p>
          <a:p>
            <a:r>
              <a:rPr lang="en-GB" dirty="0"/>
              <a:t>Speaker Notes (3 Minutes):</a:t>
            </a:r>
          </a:p>
          <a:p>
            <a:r>
              <a:rPr lang="en-GB" dirty="0"/>
              <a:t>"However, connecting our internal data to AI agents introduces new attack vectors. We need to be aware of the top five MCP deployment risks:</a:t>
            </a:r>
          </a:p>
          <a:p>
            <a:br>
              <a:rPr lang="en-GB" dirty="0"/>
            </a:br>
            <a:endParaRPr lang="en-GB" dirty="0"/>
          </a:p>
          <a:p>
            <a:r>
              <a:rPr lang="en-GB" dirty="0"/>
              <a:t>Unauthorized Tool Exposure: If we misconfigure the MCP manifest, we might accidentally give an AI agent 'Admin' rights when it should only have 'Read' rights. We must apply the Principle of Least Privilege to tool definitions.</a:t>
            </a:r>
          </a:p>
          <a:p>
            <a:br>
              <a:rPr lang="en-GB" dirty="0"/>
            </a:br>
            <a:endParaRPr lang="en-GB" dirty="0"/>
          </a:p>
          <a:p>
            <a:r>
              <a:rPr lang="en-GB" dirty="0"/>
              <a:t>Session Hijacking: Since MCP often uses persistent connections (especially over SSE), if an attacker steals a session ID, they can impersonate a user and inject malicious commands into the data queue.</a:t>
            </a:r>
          </a:p>
          <a:p>
            <a:br>
              <a:rPr lang="en-GB" dirty="0"/>
            </a:br>
            <a:endParaRPr lang="en-GB" dirty="0"/>
          </a:p>
          <a:p>
            <a:r>
              <a:rPr lang="en-GB" dirty="0"/>
              <a:t>Tool Shadowing: This is like phishing. A malicious actor could deploy a rogue MCP server that looks like a legitimate internal tool to trick an agent into sending it sensitive data.</a:t>
            </a:r>
          </a:p>
          <a:p>
            <a:br>
              <a:rPr lang="en-GB" dirty="0"/>
            </a:br>
            <a:endParaRPr lang="en-GB" dirty="0"/>
          </a:p>
          <a:p>
            <a:r>
              <a:rPr lang="en-GB" dirty="0"/>
              <a:t>Sensitive Data Exposure: We must ensure that our MCP servers don't leak API keys or PII (Personally Identifiable Information) into the context window of the LLM, where it could be stored or leaked later.</a:t>
            </a:r>
          </a:p>
          <a:p>
            <a:br>
              <a:rPr lang="en-GB" dirty="0"/>
            </a:br>
            <a:endParaRPr lang="en-GB" dirty="0"/>
          </a:p>
          <a:p>
            <a:r>
              <a:rPr lang="en-GB" dirty="0"/>
              <a:t>Authentication Bypass: If we deploy MCP servers as web services, we must enforce strict authentication (like OIDC). Without it, attackers could bypass the AI entirely and hit the API directly.</a:t>
            </a:r>
          </a:p>
          <a:p>
            <a:br>
              <a:rPr lang="en-GB" dirty="0"/>
            </a:br>
            <a:endParaRPr lang="en-GB" dirty="0"/>
          </a:p>
          <a:p>
            <a:r>
              <a:rPr lang="en-GB" dirty="0"/>
              <a:t>Security must be baked into the MCP server, not just the AI agent."</a:t>
            </a:r>
          </a:p>
          <a:p>
            <a:br>
              <a:rPr lang="en-GB" dirty="0"/>
            </a:br>
            <a:endParaRPr lang="en-GB" dirty="0"/>
          </a:p>
          <a:p>
            <a:r>
              <a:rPr lang="en-GB" dirty="0"/>
              <a:t>Slide 6: Demo – Cloud Logging in GCP via GitHub Copilot</a:t>
            </a:r>
          </a:p>
          <a:p>
            <a:br>
              <a:rPr lang="en-GB" dirty="0"/>
            </a:br>
            <a:endParaRPr lang="en-GB" dirty="0"/>
          </a:p>
          <a:p>
            <a:r>
              <a:rPr lang="en-GB" dirty="0"/>
              <a:t>Visual: A screenshot or screen recording of VS Code.</a:t>
            </a:r>
          </a:p>
          <a:p>
            <a:br>
              <a:rPr lang="en-GB" dirty="0"/>
            </a:br>
            <a:endParaRPr lang="en-GB" dirty="0"/>
          </a:p>
          <a:p>
            <a:r>
              <a:rPr lang="en-GB" dirty="0"/>
              <a:t>Left Panel: Code Editor.</a:t>
            </a:r>
          </a:p>
          <a:p>
            <a:br>
              <a:rPr lang="en-GB" dirty="0"/>
            </a:br>
            <a:endParaRPr lang="en-GB" dirty="0"/>
          </a:p>
          <a:p>
            <a:r>
              <a:rPr lang="en-GB" dirty="0"/>
              <a:t>Right Panel: GitHub Copilot Chat.</a:t>
            </a:r>
          </a:p>
          <a:p>
            <a:br>
              <a:rPr lang="en-GB" dirty="0"/>
            </a:br>
            <a:endParaRPr lang="en-GB" dirty="0"/>
          </a:p>
          <a:p>
            <a:r>
              <a:rPr lang="en-GB" dirty="0"/>
              <a:t>Action: User types "@</a:t>
            </a:r>
            <a:r>
              <a:rPr lang="en-GB" dirty="0" err="1"/>
              <a:t>gcp</a:t>
            </a:r>
            <a:r>
              <a:rPr lang="en-GB" dirty="0"/>
              <a:t> fetch logs for service-a" and logs appear.</a:t>
            </a:r>
          </a:p>
          <a:p>
            <a:br>
              <a:rPr lang="en-GB" dirty="0"/>
            </a:br>
            <a:endParaRPr lang="en-GB" dirty="0"/>
          </a:p>
          <a:p>
            <a:r>
              <a:rPr lang="en-GB" dirty="0"/>
              <a:t>Speaker Notes (3 Minutes):</a:t>
            </a:r>
          </a:p>
          <a:p>
            <a:r>
              <a:rPr lang="en-GB" dirty="0"/>
              <a:t>"Let’s look at a real-world example of how this changes the developer experience.</a:t>
            </a:r>
          </a:p>
          <a:p>
            <a:br>
              <a:rPr lang="en-GB" dirty="0"/>
            </a:br>
            <a:endParaRPr lang="en-GB" dirty="0"/>
          </a:p>
          <a:p>
            <a:r>
              <a:rPr lang="en-GB" dirty="0"/>
              <a:t>The Scenario: I am a developer working in VS Code. I have an error in my application, and I suspect it's an issue in Google Cloud.</a:t>
            </a:r>
          </a:p>
          <a:p>
            <a:br>
              <a:rPr lang="en-GB" dirty="0"/>
            </a:br>
            <a:endParaRPr lang="en-GB" dirty="0"/>
          </a:p>
          <a:p>
            <a:r>
              <a:rPr lang="en-GB" dirty="0"/>
              <a:t>The Old Way: I would have to Alt-Tab out of VS Code, log into the GCP Console, navigate to Cloud Logging, write a filter query, find the log, copy it, go back to VS Code, paste it into the AI, and ask for help.</a:t>
            </a:r>
          </a:p>
          <a:p>
            <a:br>
              <a:rPr lang="en-GB" dirty="0"/>
            </a:br>
            <a:endParaRPr lang="en-GB" dirty="0"/>
          </a:p>
          <a:p>
            <a:r>
              <a:rPr lang="en-GB" dirty="0"/>
              <a:t>The MCP Way:</a:t>
            </a:r>
          </a:p>
          <a:p>
            <a:r>
              <a:rPr lang="en-GB" dirty="0"/>
              <a:t>I have an MCP Server for GCP running locally (or remotely).</a:t>
            </a:r>
          </a:p>
          <a:p>
            <a:br>
              <a:rPr lang="en-GB" dirty="0"/>
            </a:br>
            <a:endParaRPr lang="en-GB" dirty="0"/>
          </a:p>
          <a:p>
            <a:r>
              <a:rPr lang="en-GB" dirty="0"/>
              <a:t>I open GitHub Copilot in VS Code.</a:t>
            </a:r>
          </a:p>
          <a:p>
            <a:br>
              <a:rPr lang="en-GB" dirty="0"/>
            </a:br>
            <a:endParaRPr lang="en-GB" dirty="0"/>
          </a:p>
          <a:p>
            <a:r>
              <a:rPr lang="en-GB" dirty="0"/>
              <a:t>I simply type: 'Check the latest error logs for the payment-service in GCP.'</a:t>
            </a:r>
          </a:p>
          <a:p>
            <a:br>
              <a:rPr lang="en-GB" dirty="0"/>
            </a:br>
            <a:endParaRPr lang="en-GB" dirty="0"/>
          </a:p>
          <a:p>
            <a:r>
              <a:rPr lang="en-GB" dirty="0"/>
              <a:t>Copilot (The Host) sends a request to the MCP Server.</a:t>
            </a:r>
          </a:p>
          <a:p>
            <a:br>
              <a:rPr lang="en-GB" dirty="0"/>
            </a:br>
            <a:endParaRPr lang="en-GB" dirty="0"/>
          </a:p>
          <a:p>
            <a:r>
              <a:rPr lang="en-GB" dirty="0"/>
              <a:t>The MCP Server securely queries the Google Cloud API using my credentials.</a:t>
            </a:r>
          </a:p>
          <a:p>
            <a:br>
              <a:rPr lang="en-GB" dirty="0"/>
            </a:br>
            <a:endParaRPr lang="en-GB" dirty="0"/>
          </a:p>
          <a:p>
            <a:r>
              <a:rPr lang="en-GB" dirty="0"/>
              <a:t>The logs are returned directly into the chat window.</a:t>
            </a:r>
          </a:p>
          <a:p>
            <a:br>
              <a:rPr lang="en-GB" dirty="0"/>
            </a:br>
            <a:endParaRPr lang="en-GB" dirty="0"/>
          </a:p>
          <a:p>
            <a:r>
              <a:rPr lang="en-GB" dirty="0"/>
              <a:t>Copilot then </a:t>
            </a:r>
            <a:r>
              <a:rPr lang="en-GB" dirty="0" err="1"/>
              <a:t>analyzes</a:t>
            </a:r>
            <a:r>
              <a:rPr lang="en-GB" dirty="0"/>
              <a:t> those logs and suggests a fix—all without me ever leaving the IDE. This is the power of context.</a:t>
            </a:r>
          </a:p>
          <a:p>
            <a:br>
              <a:rPr lang="en-GB" dirty="0"/>
            </a:br>
            <a:endParaRPr lang="en-GB" dirty="0"/>
          </a:p>
          <a:p>
            <a:r>
              <a:rPr lang="en-GB" dirty="0"/>
              <a:t>Conclusion:</a:t>
            </a:r>
          </a:p>
          <a:p>
            <a:r>
              <a:rPr lang="en-GB" dirty="0"/>
              <a:t>MCP is not just a connector; it is the foundation for the next generation of Agentic AI. I recommend we start exploring how to build secure MCP servers for our internal tools today."</a:t>
            </a:r>
          </a:p>
          <a:p>
            <a:br>
              <a:rPr lang="en-GB" dirty="0"/>
            </a:br>
            <a:br>
              <a:rPr lang="en-GB" dirty="0"/>
            </a:br>
            <a:endParaRPr lang="en-GB" dirty="0"/>
          </a:p>
          <a:p>
            <a:endParaRPr lang="en-US" dirty="0"/>
          </a:p>
        </p:txBody>
      </p:sp>
    </p:spTree>
    <p:extLst>
      <p:ext uri="{BB962C8B-B14F-4D97-AF65-F5344CB8AC3E}">
        <p14:creationId xmlns:p14="http://schemas.microsoft.com/office/powerpoint/2010/main" val="4252185197"/>
      </p:ext>
    </p:extLst>
  </p:cSld>
  <p:clrMapOvr>
    <a:masterClrMapping/>
  </p:clrMapOvr>
</p:sld>
</file>

<file path=ppt/theme/theme1.xml><?xml version="1.0" encoding="utf-8"?>
<a:theme xmlns:a="http://schemas.openxmlformats.org/drawingml/2006/main" name="BjornVTI">
  <a:themeElements>
    <a:clrScheme name="Bjorn">
      <a:dk1>
        <a:sysClr val="windowText" lastClr="000000"/>
      </a:dk1>
      <a:lt1>
        <a:sysClr val="window" lastClr="FFFFFF"/>
      </a:lt1>
      <a:dk2>
        <a:srgbClr val="252747"/>
      </a:dk2>
      <a:lt2>
        <a:srgbClr val="ECE4E9"/>
      </a:lt2>
      <a:accent1>
        <a:srgbClr val="736EB6"/>
      </a:accent1>
      <a:accent2>
        <a:srgbClr val="AB5991"/>
      </a:accent2>
      <a:accent3>
        <a:srgbClr val="AC9F39"/>
      </a:accent3>
      <a:accent4>
        <a:srgbClr val="756029"/>
      </a:accent4>
      <a:accent5>
        <a:srgbClr val="E87850"/>
      </a:accent5>
      <a:accent6>
        <a:srgbClr val="C6922A"/>
      </a:accent6>
      <a:hlink>
        <a:srgbClr val="736EB6"/>
      </a:hlink>
      <a:folHlink>
        <a:srgbClr val="AB5991"/>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docProps/app.xml><?xml version="1.0" encoding="utf-8"?>
<Properties xmlns="http://schemas.openxmlformats.org/officeDocument/2006/extended-properties" xmlns:vt="http://schemas.openxmlformats.org/officeDocument/2006/docPropsVTypes">
  <TotalTime>90</TotalTime>
  <Words>2157</Words>
  <Application>Microsoft Macintosh PowerPoint</Application>
  <PresentationFormat>Widescreen</PresentationFormat>
  <Paragraphs>200</Paragraphs>
  <Slides>10</Slides>
  <Notes>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Neue Haas Grotesk Text Pro</vt:lpstr>
      <vt:lpstr>BjornVTI</vt:lpstr>
      <vt:lpstr>Unlock AI context with MCP</vt:lpstr>
      <vt:lpstr>What is MCP?</vt:lpstr>
      <vt:lpstr>Brain in the jar</vt:lpstr>
      <vt:lpstr>N-by-M problem</vt:lpstr>
      <vt:lpstr>MCP</vt:lpstr>
      <vt:lpstr>MCP Architecture</vt:lpstr>
      <vt:lpstr>Security &amp; Risk</vt:lpstr>
      <vt:lpstr>Demo – Cloud Logging in GCP via GitHub Copilot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Srinivasan, Srinath Kavasery (DEVELOPMENT)</dc:creator>
  <cp:lastModifiedBy>Srinivasan, Srinath Kavasery (DEVELOPMENT)</cp:lastModifiedBy>
  <cp:revision>2</cp:revision>
  <dcterms:created xsi:type="dcterms:W3CDTF">2025-11-27T01:16:50Z</dcterms:created>
  <dcterms:modified xsi:type="dcterms:W3CDTF">2025-11-27T02:47:03Z</dcterms:modified>
</cp:coreProperties>
</file>